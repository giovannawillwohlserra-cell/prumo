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iovanna/Claude/PRUMO/apresentaca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850" y="533995"/>
            <a:ext cx="1930301" cy="7264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43710" y="1692176"/>
            <a:ext cx="26564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1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COMERCIAL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944931" y="2174677"/>
            <a:ext cx="7254139" cy="1018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12"/>
              </a:lnSpc>
              <a:spcAft>
                <a:spcPts val="1800"/>
              </a:spcAft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empresa cresceu mais rápido do que a sua estrutura.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279850" y="3803154"/>
            <a:ext cx="584150" cy="25301"/>
          </a:xfrm>
          <a:prstGeom prst="rect">
            <a:avLst/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63040" y="4209455"/>
            <a:ext cx="6217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Estruturação organizacional para empresas em crescimento — desenvolvimento de lideranças, organização de processos e alinhamento das pessoas à estratégia.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-91440" y="4543574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9A9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Prumo Consultoria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SINAIS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803225"/>
            <a:ext cx="725413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spcAft>
                <a:spcPts val="2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reconhece a sua empresa em alguma dessas frases?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4901" y="1431727"/>
            <a:ext cx="3746450" cy="99595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7576" y="1618952"/>
            <a:ext cx="33875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7576" y="1851273"/>
            <a:ext cx="3387522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ainda passa por mim.</a:t>
            </a:r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decisão relevante anda sem os sócios.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08302" y="1431727"/>
            <a:ext cx="3746450" cy="995958"/>
          </a:xfrm>
          <a:prstGeom prst="roundRect">
            <a:avLst>
              <a:gd name="adj" fmla="val 5101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20977" y="1618952"/>
            <a:ext cx="33875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0977" y="1851273"/>
            <a:ext cx="3387522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líderes não acompanham o ritmo da empresa.</a:t>
            </a:r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Foram promovidos pelo técnico, não preparados para gerir.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2554635"/>
            <a:ext cx="3746450" cy="1177528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7576" y="2741861"/>
            <a:ext cx="33875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7576" y="2974181"/>
            <a:ext cx="3387522" cy="338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processos não evoluíram com o crescimento.</a:t>
            </a:r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funcionava com 10 pessoas trava com 40.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08302" y="2554635"/>
            <a:ext cx="3746450" cy="1177528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20977" y="2741861"/>
            <a:ext cx="338752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0977" y="2974181"/>
            <a:ext cx="3387522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crescimento gera mais problemas do que resultados.</a:t>
            </a:r>
            <a:pPr algn="l" indent="0" marL="0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Faturar mais deixou de significar lucrar melhor.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901" y="3960763"/>
            <a:ext cx="77724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você reconheceu a sua empresa, o problema provavelmente não é falta de esforço — é falta de estrutura. </a:t>
            </a:r>
            <a:pPr algn="l" indent="0" marL="0">
              <a:lnSpc>
                <a:spcPts val="168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 notícia: estrutura se constrói.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25153"/>
            <a:ext cx="35863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0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REAL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571179"/>
            <a:ext cx="3586386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4"/>
              </a:lnSpc>
              <a:spcAft>
                <a:spcPts val="1400"/>
              </a:spcAft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não é falta de esforço. </a:t>
            </a:r>
            <a:pPr algn="l" indent="0" marL="0">
              <a:lnSpc>
                <a:spcPts val="2944"/>
              </a:lnSpc>
              <a:spcAft>
                <a:spcPts val="1400"/>
              </a:spcAft>
              <a:buNone/>
            </a:pPr>
            <a:r>
              <a:rPr lang="en-US" sz="2300" dirty="0">
                <a:solidFill>
                  <a:srgbClr val="B89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falta de estrutura.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5800" y="2870448"/>
            <a:ext cx="358638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Muitas empresas crescem mais rápido do que a sua estrutura. O faturamento sobe, mas a organização interna não acompanha — e quem sustenta esse descompasso, no dia a dia, são os sócios e as lideranças.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14577" y="584150"/>
            <a:ext cx="0" cy="3975199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76540" y="1587252"/>
            <a:ext cx="3347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SEM ESTRUTURA GERA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76540" y="1873002"/>
            <a:ext cx="3281660" cy="1683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2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Sobrecarga operacional da liderança</a:t>
            </a:r>
            <a:endParaRPr lang="en-US" sz="1150" dirty="0"/>
          </a:p>
          <a:p>
            <a:pPr algn="l" marL="342900" indent="-342900">
              <a:lnSpc>
                <a:spcPts val="1552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e perda de eficiência</a:t>
            </a:r>
            <a:endParaRPr lang="en-US" sz="1150" dirty="0"/>
          </a:p>
          <a:p>
            <a:pPr algn="l" marL="342900" indent="-342900">
              <a:lnSpc>
                <a:spcPts val="1552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reativo, não planejado</a:t>
            </a:r>
            <a:endParaRPr lang="en-US" sz="1150" dirty="0"/>
          </a:p>
          <a:p>
            <a:pPr algn="l" marL="342900" indent="-342900">
              <a:lnSpc>
                <a:spcPts val="1552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escalar com consistência</a:t>
            </a:r>
            <a:endParaRPr lang="en-US" sz="1150" dirty="0"/>
          </a:p>
          <a:p>
            <a:pPr algn="l" marL="342900" indent="-342900">
              <a:lnSpc>
                <a:spcPts val="1552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Ruído entre estratégia e execução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507950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803225"/>
            <a:ext cx="7772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pilares para transformar crescimento desorganizado em crescimento sustentável.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34901" y="1723876"/>
            <a:ext cx="2506266" cy="2554784"/>
          </a:xfrm>
          <a:prstGeom prst="roundRect">
            <a:avLst>
              <a:gd name="adj" fmla="val 2027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4926" y="1936552"/>
            <a:ext cx="2148340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spcAft>
                <a:spcPts val="1000"/>
              </a:spcAft>
              <a:buNone/>
            </a:pPr>
            <a:r>
              <a:rPr lang="en-US" sz="980" b="1" dirty="0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834926" y="2237631"/>
            <a:ext cx="2148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Liderança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34926" y="2548682"/>
            <a:ext cx="2148340" cy="52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spcAft>
                <a:spcPts val="1000"/>
              </a:spcAft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Líderes preparados para o tamanho atual da empresa — e para o próximo.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834926" y="3198019"/>
            <a:ext cx="2106216" cy="80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gestores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certas nas posições certas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Clareza de papéis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 e accountability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3318867" y="1723876"/>
            <a:ext cx="2506266" cy="2554784"/>
          </a:xfrm>
          <a:prstGeom prst="roundRect">
            <a:avLst>
              <a:gd name="adj" fmla="val 2027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18892" y="1936552"/>
            <a:ext cx="2148340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spcAft>
                <a:spcPts val="1000"/>
              </a:spcAft>
              <a:buNone/>
            </a:pPr>
            <a:r>
              <a:rPr lang="en-US" sz="980" b="1" dirty="0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518892" y="2237631"/>
            <a:ext cx="2148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18892" y="2548682"/>
            <a:ext cx="214834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spcAft>
                <a:spcPts val="1000"/>
              </a:spcAft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na cabeça das pessoas vira processo claro e replicável.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518892" y="3023890"/>
            <a:ext cx="2106216" cy="80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processos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Padronização operacional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 contínua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e indicadores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002834" y="1723876"/>
            <a:ext cx="2506266" cy="2554784"/>
          </a:xfrm>
          <a:prstGeom prst="roundRect">
            <a:avLst>
              <a:gd name="adj" fmla="val 2027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02859" y="1936552"/>
            <a:ext cx="2148340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spcAft>
                <a:spcPts val="1000"/>
              </a:spcAft>
              <a:buNone/>
            </a:pPr>
            <a:r>
              <a:rPr lang="en-US" sz="980" b="1" dirty="0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202859" y="2237631"/>
            <a:ext cx="21483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 e alinhamento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02859" y="2548682"/>
            <a:ext cx="214834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spcAft>
                <a:spcPts val="1000"/>
              </a:spcAft>
              <a:buNone/>
            </a:pPr>
            <a:r>
              <a:rPr lang="en-US" sz="9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estratégia sai do papel e entra na rotina do dia a dia.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02859" y="3023890"/>
            <a:ext cx="2106216" cy="80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Desdobramento em metas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 entre áreas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organizacional</a:t>
            </a:r>
            <a:endParaRPr lang="en-US" sz="930" dirty="0"/>
          </a:p>
          <a:p>
            <a:pPr algn="l" marL="342900" indent="-342900">
              <a:lnSpc>
                <a:spcPts val="1209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Rotinas de execução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FAZEMOS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752326"/>
            <a:ext cx="8031682" cy="603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caminho claro, do diagnóstico ao resultado sustentado — e estrutura que também certifica.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4901" y="1558528"/>
            <a:ext cx="1873448" cy="1307604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577578"/>
            <a:ext cx="1873448" cy="0"/>
          </a:xfrm>
          <a:prstGeom prst="line">
            <a:avLst/>
          </a:prstGeom>
          <a:noFill/>
          <a:ln w="38100">
            <a:solidFill>
              <a:srgbClr val="B899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9951" y="1749028"/>
            <a:ext cx="1574215" cy="14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b="1" dirty="0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99951" y="1893094"/>
            <a:ext cx="15742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9951" y="2137470"/>
            <a:ext cx="1574215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Mapeamos estrutura, processos, pessoas e produto para revelar os gargalos reais.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635300" y="1558528"/>
            <a:ext cx="1873300" cy="1307604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35300" y="1577578"/>
            <a:ext cx="1873300" cy="0"/>
          </a:xfrm>
          <a:prstGeom prst="line">
            <a:avLst/>
          </a:prstGeom>
          <a:noFill/>
          <a:ln w="38100">
            <a:solidFill>
              <a:srgbClr val="B899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0350" y="1749028"/>
            <a:ext cx="1574063" cy="14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b="1" dirty="0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800350" y="1893094"/>
            <a:ext cx="1574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Estruturação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00350" y="2137470"/>
            <a:ext cx="1574063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Desenhamos, com os sócios, papéis, processos-chave e rotinas de decisão.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635550" y="1558528"/>
            <a:ext cx="1873300" cy="1307604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35550" y="1577578"/>
            <a:ext cx="1873300" cy="0"/>
          </a:xfrm>
          <a:prstGeom prst="line">
            <a:avLst/>
          </a:prstGeom>
          <a:noFill/>
          <a:ln w="38100">
            <a:solidFill>
              <a:srgbClr val="B899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49028"/>
            <a:ext cx="1574063" cy="14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b="1" dirty="0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800600" y="1893094"/>
            <a:ext cx="1574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Implementação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137470"/>
            <a:ext cx="1574063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Colocamos o modelo em prática lado a lado com a equipe, sem relatório de gaveta.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635800" y="1558528"/>
            <a:ext cx="1873300" cy="1307604"/>
          </a:xfrm>
          <a:prstGeom prst="roundRect">
            <a:avLst>
              <a:gd name="adj" fmla="val 38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635800" y="1577578"/>
            <a:ext cx="1873300" cy="0"/>
          </a:xfrm>
          <a:prstGeom prst="line">
            <a:avLst/>
          </a:prstGeom>
          <a:noFill/>
          <a:ln w="38100">
            <a:solidFill>
              <a:srgbClr val="B899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0850" y="1749028"/>
            <a:ext cx="1574063" cy="14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b="1" dirty="0">
                <a:solidFill>
                  <a:srgbClr val="6A6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800850" y="1893094"/>
            <a:ext cx="15740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Acompanhamento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00850" y="2137470"/>
            <a:ext cx="1574063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5"/>
              </a:lnSpc>
              <a:buNone/>
            </a:pPr>
            <a:r>
              <a:rPr lang="en-US" sz="86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Sustentamos a mudança até que a nova estrutura funcione sem nós por dentro.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34901" y="3145482"/>
            <a:ext cx="1873448" cy="898178"/>
          </a:xfrm>
          <a:prstGeom prst="roundRect">
            <a:avLst>
              <a:gd name="adj" fmla="val 565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9951" y="3285083"/>
            <a:ext cx="1574215" cy="13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b="1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CERTIFICAÇÃO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99951" y="3420517"/>
            <a:ext cx="15742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9951" y="3633192"/>
            <a:ext cx="1574215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Práticas ambientais, sociais e de governança.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2635300" y="3145482"/>
            <a:ext cx="1873300" cy="898178"/>
          </a:xfrm>
          <a:prstGeom prst="roundRect">
            <a:avLst>
              <a:gd name="adj" fmla="val 565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00350" y="3285083"/>
            <a:ext cx="1574063" cy="13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b="1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CERTIFICAÇÃO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2800350" y="3420517"/>
            <a:ext cx="1574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LGPD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800350" y="3633192"/>
            <a:ext cx="1574063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Adequação à Lei Geral de Proteção de Dados.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635550" y="3145482"/>
            <a:ext cx="1873300" cy="898178"/>
          </a:xfrm>
          <a:prstGeom prst="roundRect">
            <a:avLst>
              <a:gd name="adj" fmla="val 565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600" y="3285083"/>
            <a:ext cx="1574063" cy="13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b="1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CERTIFICAÇÃO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4800600" y="3420517"/>
            <a:ext cx="1574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Trabalhista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00600" y="3633192"/>
            <a:ext cx="1574063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passivos e riscos jurídicos.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635800" y="3145482"/>
            <a:ext cx="1873300" cy="898178"/>
          </a:xfrm>
          <a:prstGeom prst="roundRect">
            <a:avLst>
              <a:gd name="adj" fmla="val 5656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00850" y="3285083"/>
            <a:ext cx="1574063" cy="13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b="1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800850" y="3420517"/>
            <a:ext cx="15740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GPTW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00850" y="3633192"/>
            <a:ext cx="1574063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6"/>
              </a:lnSpc>
              <a:buNone/>
            </a:pPr>
            <a:r>
              <a:rPr lang="en-US" sz="82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 e cultura para um ótimo lugar de trabalho.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DE PARTIDA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752326"/>
            <a:ext cx="7772400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Prumo não começa vendendo. Começa diagnosticando.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4901" y="1155353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600"/>
              </a:spcAft>
              <a:buNone/>
            </a:pPr>
            <a:r>
              <a:rPr lang="en-US" sz="105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propor qualquer solução, conduzimos um diagnóstico estruturado em seis frentes.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34901" y="1545134"/>
            <a:ext cx="2514600" cy="835372"/>
          </a:xfrm>
          <a:prstGeom prst="roundRect">
            <a:avLst>
              <a:gd name="adj" fmla="val 6081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127" y="1707059"/>
            <a:ext cx="2182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127" y="1910209"/>
            <a:ext cx="2182951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organização atual suporta o tamanho — e o próximo passo — da empresa?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76451" y="1545134"/>
            <a:ext cx="2514600" cy="835372"/>
          </a:xfrm>
          <a:prstGeom prst="roundRect">
            <a:avLst>
              <a:gd name="adj" fmla="val 6081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63677" y="1707059"/>
            <a:ext cx="2182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dos sócios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63677" y="1910209"/>
            <a:ext cx="2182951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da operação ainda depende diretamente de você?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18002" y="1545134"/>
            <a:ext cx="2514600" cy="835372"/>
          </a:xfrm>
          <a:prstGeom prst="roundRect">
            <a:avLst>
              <a:gd name="adj" fmla="val 6081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05227" y="1707059"/>
            <a:ext cx="2182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05227" y="1910209"/>
            <a:ext cx="2182951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Seus líderes estão preparados para o ritmo atual do negócio?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2507456"/>
            <a:ext cx="2514600" cy="989558"/>
          </a:xfrm>
          <a:prstGeom prst="roundRect">
            <a:avLst>
              <a:gd name="adj" fmla="val 5134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127" y="2669381"/>
            <a:ext cx="2182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127" y="2872532"/>
            <a:ext cx="2182951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 a empresa funcionar está mapeado — ou só na cabeça das pessoas?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76451" y="2507456"/>
            <a:ext cx="2514600" cy="989558"/>
          </a:xfrm>
          <a:prstGeom prst="roundRect">
            <a:avLst>
              <a:gd name="adj" fmla="val 5134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63677" y="2669381"/>
            <a:ext cx="2182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63677" y="2872532"/>
            <a:ext cx="2182951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pessoa está na posição em que rende mais? Avaliamos com base na psicologia positiva.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18002" y="2507456"/>
            <a:ext cx="2514600" cy="989558"/>
          </a:xfrm>
          <a:prstGeom prst="roundRect">
            <a:avLst>
              <a:gd name="adj" fmla="val 5134"/>
            </a:avLst>
          </a:prstGeom>
          <a:solidFill>
            <a:srgbClr val="FAF8F4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05227" y="2669381"/>
            <a:ext cx="21829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 estratégico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05227" y="2872532"/>
            <a:ext cx="2182951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estratégia está clara e se transformando em execução no dia a dia?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ESPERADOS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752326"/>
            <a:ext cx="7772400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mapa de valor: do diagnóstico ao crescimento sustentável.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3725" y="1348234"/>
            <a:ext cx="1139901" cy="13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7"/>
              </a:lnSpc>
              <a:buNone/>
            </a:pPr>
            <a:r>
              <a:rPr lang="en-US" sz="83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claro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1750674" y="1337965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18976" y="1282452"/>
            <a:ext cx="1139901" cy="26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7"/>
              </a:lnSpc>
              <a:buNone/>
            </a:pPr>
            <a:r>
              <a:rPr lang="en-US" sz="83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Lideranças preparadas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3045925" y="1337965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14228" y="1282452"/>
            <a:ext cx="1139901" cy="26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7"/>
              </a:lnSpc>
              <a:buNone/>
            </a:pPr>
            <a:r>
              <a:rPr lang="en-US" sz="83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estruturados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4341177" y="1337965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09479" y="1282452"/>
            <a:ext cx="1139901" cy="26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7"/>
              </a:lnSpc>
              <a:buNone/>
            </a:pPr>
            <a:r>
              <a:rPr lang="en-US" sz="83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na posição certa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5636428" y="1337965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4730" y="1348234"/>
            <a:ext cx="1139901" cy="131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7"/>
              </a:lnSpc>
              <a:buNone/>
            </a:pPr>
            <a:r>
              <a:rPr lang="en-US" sz="83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alinhada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6931679" y="1337965"/>
            <a:ext cx="1812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99981" y="1282452"/>
            <a:ext cx="1139901" cy="26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7"/>
              </a:lnSpc>
              <a:buNone/>
            </a:pPr>
            <a:r>
              <a:rPr lang="en-US" sz="83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sustentável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634901" y="1850678"/>
            <a:ext cx="3657600" cy="406003"/>
          </a:xfrm>
          <a:prstGeom prst="roundRect">
            <a:avLst>
              <a:gd name="adj" fmla="val 12512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9476" y="200918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12627" y="1974503"/>
            <a:ext cx="2890058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Sócios menos dependentes do dia a dia operacional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406801" y="1850678"/>
            <a:ext cx="3657600" cy="406003"/>
          </a:xfrm>
          <a:prstGeom prst="roundRect">
            <a:avLst>
              <a:gd name="adj" fmla="val 12512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81376" y="200918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4527" y="1974503"/>
            <a:ext cx="2322612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mais rápidas e descentralizadas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34901" y="2370981"/>
            <a:ext cx="3657600" cy="406003"/>
          </a:xfrm>
          <a:prstGeom prst="roundRect">
            <a:avLst>
              <a:gd name="adj" fmla="val 12512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9476" y="252948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12627" y="2494806"/>
            <a:ext cx="2405497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replicáveis, prontos para escalar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406801" y="2370981"/>
            <a:ext cx="3657600" cy="406003"/>
          </a:xfrm>
          <a:prstGeom prst="roundRect">
            <a:avLst>
              <a:gd name="adj" fmla="val 12512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81376" y="252948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4527" y="2494806"/>
            <a:ext cx="2488990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alinhada com a estratégia do negócio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634901" y="2891284"/>
            <a:ext cx="3657600" cy="406003"/>
          </a:xfrm>
          <a:prstGeom prst="roundRect">
            <a:avLst>
              <a:gd name="adj" fmla="val 12512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9476" y="304978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12627" y="3015109"/>
            <a:ext cx="1908185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retrabalho e desgaste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406801" y="2891284"/>
            <a:ext cx="3657600" cy="406003"/>
          </a:xfrm>
          <a:prstGeom prst="roundRect">
            <a:avLst>
              <a:gd name="adj" fmla="val 12512"/>
            </a:avLst>
          </a:prstGeom>
          <a:solidFill>
            <a:srgbClr val="FFFFFF"/>
          </a:solidFill>
          <a:ln w="9525">
            <a:solidFill>
              <a:srgbClr val="EAE5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81376" y="304978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527" y="3015109"/>
            <a:ext cx="2806261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com previsibilidade, não no improviso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33400"/>
            <a:ext cx="79278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B89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SOMOS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828675"/>
            <a:ext cx="7254139" cy="34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spcAft>
                <a:spcPts val="14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Crescimento é mérito. Sustentá-lo é estrutura.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" y="1347639"/>
            <a:ext cx="7254139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00"/>
              </a:spcAft>
              <a:buNone/>
            </a:pPr>
            <a:r>
              <a:rPr lang="en-US" sz="108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Prumo nasceu de uma constatação recorrente: muitas empresas crescem mais rápido do que a sua estrutura. Nosso propósito é transformar crescimento desorganizado em crescimento sustentável — desenvolvendo lideranças, organizando processos e alinhando pessoas à estratégia do negócio.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85800" y="2092077"/>
            <a:ext cx="7254139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00"/>
              </a:spcAft>
              <a:buNone/>
            </a:pPr>
            <a:r>
              <a:rPr lang="en-US" sz="1080" i="1" dirty="0">
                <a:solidFill>
                  <a:srgbClr val="FFFFFF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"Crescer é vender mais. Sustentar o crescimento é ter a estrutura certa para isso."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85800" y="2704207"/>
            <a:ext cx="7772400" cy="787301"/>
          </a:xfrm>
          <a:prstGeom prst="roundRect">
            <a:avLst>
              <a:gd name="adj" fmla="val 8066"/>
            </a:avLst>
          </a:prstGeom>
          <a:solidFill>
            <a:srgbClr val="B899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2918520"/>
            <a:ext cx="2950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reunião diagnóstica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5150" y="3134320"/>
            <a:ext cx="2950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+55 71 99692-1513 · atprumo@gmail.com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446341" y="2907357"/>
            <a:ext cx="1732508" cy="38100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9492" y="3021657"/>
            <a:ext cx="13527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diagnóstico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Prumo — Apresentação Comercial</dc:title>
  <dc:subject>PptxGenJS Presentation</dc:subject>
  <dc:creator>Prumo Consultoria</dc:creator>
  <cp:lastModifiedBy>Prumo Consultoria</cp:lastModifiedBy>
  <cp:revision>1</cp:revision>
  <dcterms:created xsi:type="dcterms:W3CDTF">2026-06-23T21:21:06Z</dcterms:created>
  <dcterms:modified xsi:type="dcterms:W3CDTF">2026-06-23T21:21:06Z</dcterms:modified>
</cp:coreProperties>
</file>